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1" r:id="rId15"/>
    <p:sldId id="273" r:id="rId16"/>
    <p:sldId id="274" r:id="rId17"/>
    <p:sldId id="275" r:id="rId18"/>
    <p:sldId id="276" r:id="rId19"/>
    <p:sldId id="27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229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" y="4331970"/>
            <a:ext cx="9143999" cy="81153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8147" y="0"/>
            <a:ext cx="45719" cy="433197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23045" y="45720"/>
            <a:ext cx="2743200" cy="2743200"/>
          </a:xfrm>
          <a:prstGeom prst="ellipse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39135" y="2766060"/>
            <a:ext cx="1371600" cy="13716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48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ENTERPRISE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Inventory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Management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Organization : Infosys Springboard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Full-Stack Web Application | Intern Project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by: Vikram Kumar, Batch 13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Computer Science Department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-233265" y="444627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Enterprise-Grade Solution  |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Table of Contents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Overview &amp; Navigation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1064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 &amp; Project Overview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1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60934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411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11226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Build This Project?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606040"/>
            <a:ext cx="411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06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26151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 &amp; Roles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411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089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311810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 &amp; Diagram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1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611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" y="36210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Layered Architecture Breakdown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114800"/>
            <a:ext cx="411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14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412394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Controller Layer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97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57800" y="11064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 Layer &amp; Transaction Module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160020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57800" y="160934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Simulation Module &amp; Execution Flow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80" y="210312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57800" y="211226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Achievements &amp; Outcomes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4880" y="260604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606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57800" y="26151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Applications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54880" y="3108960"/>
            <a:ext cx="4114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1089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57800" y="311810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 &amp; Thank You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Enterprise Inventory Management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12064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Overview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4904" y="175564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5819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robust, full-stack Enterprise Inventory Management System built with Java Spring Boot and Thymeleaf that streamlines business operations.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4904" y="241401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40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Handles end-to-end inventory lifecycle: product creation, stock tracking,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management, stock tracking, reporting and dashboard analytics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4904" y="307238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986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Designed for real-world enterprise use with MVC architecture, layered service design, and database integrity.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4904" y="373075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570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simulates realistic business scenarios including stock depletion, reorder triggers, and risk threshold alerts.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23560" y="1051560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23560" y="1051560"/>
            <a:ext cx="54864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1247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MVC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60720" y="1472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 Pattern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23560" y="1947672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1947672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19" y="2020824"/>
            <a:ext cx="2020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MVC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60720" y="2368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Server-Side Rendering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23560" y="2898648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0" y="2898648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971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60720" y="3319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 Compliance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23560" y="3863552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27738" y="3867912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8130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OOP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6072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Java Design Paradigm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 in Traditional Inventory Management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Tracking Errors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Spreadsheet-based tracking leads to inaccurate stock counts, data inconsistency, and human errors causing costly overstock or stockouts.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54864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Real-Time Visibility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3752" y="14813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Businesses lack real-time stock level monitoring, resulting in delayed decisions, undetected shortages, and missed reorder triggers.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23160"/>
            <a:ext cx="54864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Fragmented Systems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" y="28072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Separate tools for procurement, sales, suppliers, and reporting create data silos with no centralized control or audit trail.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423160"/>
            <a:ext cx="54864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Risk Threshold Alerts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73752" y="28072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automated threshold logic, managers are unaware of critical inventory levels until operations are already disrupted.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49040"/>
            <a:ext cx="54864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Poor Transaction Integrity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8912" y="41330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Non-ACID transactions result in partial updates, orphaned records, and data corruption across multi-step inventory operations.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09160" y="37490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749040"/>
            <a:ext cx="54864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Scalability Limitations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73752" y="41330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Legacy systems fail to scale with growing product catalogs, multiple warehouses, and increasing transaction volumes.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Build This Project?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Motivation, Goals &amp; Academic Value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" cy="1207008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Industry-Relevant Tech Stack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38988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Boot, Thymeleaf, JPA, and MySQL are widely adopted in enterprise Java development. This project provides hands-on expertise in production-level frameworks.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502920" cy="12070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0584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3520" y="1097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Solve a Universal Business Need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03520" y="138988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business — retail, manufacturing, healthcare — requires inventory control. Building this system addresses a universal operational challenge.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59152"/>
            <a:ext cx="502920" cy="120700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59152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2450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Practice Layered Architecture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274320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Implementing Controller → Service → Repository layers enforces clean separation of concerns — a fundamental software engineering principle.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9152"/>
            <a:ext cx="502920" cy="120700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359152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20" y="2450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 Transactional Integrity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03520" y="274320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Applying @Transactional annotations and handling rollback scenarios builds understanding of ACID-compliant database operations in practice.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371246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12464"/>
            <a:ext cx="502920" cy="1207008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712464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" y="3803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End-to-End Features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8680" y="409651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From authentication to simulation modules and risk alerts, this project integrates full-cycle development: backend, frontend, database, and business logic.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371246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712464"/>
            <a:ext cx="502920" cy="1207008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712464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3520" y="3803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Academic &amp; Career Portfolio Value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03520" y="409651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fully functional enterprise application demonstrates senior-level development skills and provides concrete evidence of system design capabilities for employers.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Tools, Frameworks &amp; Libraries Used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554480" cy="1554480"/>
          </a:xfrm>
          <a:prstGeom prst="rect">
            <a:avLst/>
          </a:prstGeom>
          <a:solidFill>
            <a:srgbClr val="1B2A3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15544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Language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399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Java 17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2039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programming language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34477" y="1057220"/>
            <a:ext cx="1554480" cy="1554480"/>
          </a:xfrm>
          <a:prstGeom prst="rect">
            <a:avLst/>
          </a:prstGeom>
          <a:solidFill>
            <a:srgbClr val="1B2A3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4477" y="1057220"/>
            <a:ext cx="15544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4477" y="10572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Framework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34477" y="14046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34477" y="20447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Auto-configured REST/MVC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94635" y="1051560"/>
            <a:ext cx="1554480" cy="1554480"/>
          </a:xfrm>
          <a:prstGeom prst="rect">
            <a:avLst/>
          </a:prstGeom>
          <a:solidFill>
            <a:srgbClr val="1B2A3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94635" y="1051560"/>
            <a:ext cx="15544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4635" y="1051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 Engine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94635" y="1399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Thymeleaf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94635" y="2039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Server-side HTML templating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83821" y="1051560"/>
            <a:ext cx="1554480" cy="1554480"/>
          </a:xfrm>
          <a:prstGeom prst="rect">
            <a:avLst/>
          </a:prstGeom>
          <a:solidFill>
            <a:srgbClr val="1B2A3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3821" y="1051560"/>
            <a:ext cx="155448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821" y="1051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 Layer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83821" y="1399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MVC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83821" y="2039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HTTP routing &amp; controllers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94635" y="2880360"/>
            <a:ext cx="1554480" cy="1554480"/>
          </a:xfrm>
          <a:prstGeom prst="rect">
            <a:avLst/>
          </a:prstGeom>
          <a:solidFill>
            <a:srgbClr val="1B2A3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94635" y="2880360"/>
            <a:ext cx="15544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4635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ORM Layer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94635" y="3227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Data JPA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394635" y="3867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abstraction layer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2880360"/>
            <a:ext cx="1554480" cy="1554480"/>
          </a:xfrm>
          <a:prstGeom prst="rect">
            <a:avLst/>
          </a:prstGeom>
          <a:solidFill>
            <a:srgbClr val="1B2A3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880360"/>
            <a:ext cx="15544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ORM Provider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4320" y="3227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Hibernate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74320" y="3867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Entity-relational mapping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334477" y="2886020"/>
            <a:ext cx="1554480" cy="1554480"/>
          </a:xfrm>
          <a:prstGeom prst="rect">
            <a:avLst/>
          </a:prstGeom>
          <a:solidFill>
            <a:srgbClr val="1B2A3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34477" y="2886020"/>
            <a:ext cx="15544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4477" y="28860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334477" y="32334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34477" y="38735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Relational data persistence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483821" y="2880360"/>
            <a:ext cx="1554480" cy="1554480"/>
          </a:xfrm>
          <a:prstGeom prst="rect">
            <a:avLst/>
          </a:prstGeom>
          <a:solidFill>
            <a:srgbClr val="1B2A3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83821" y="2880360"/>
            <a:ext cx="15544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83821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UI Layer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83821" y="3227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HTML/CSS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483821" y="3867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Bootstrap-styled frontend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 of Each Technology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Every Component Contributes to the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097280" cy="914400"/>
          </a:xfrm>
          <a:prstGeom prst="rect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/>
            </a:solidFill>
            <a:prstDash val="solid"/>
          </a:ln>
        </p:spPr>
      </p:sp>
      <p:sp useBgFill="1">
        <p:nvSpPr>
          <p:cNvPr id="7" name="Text 5"/>
          <p:cNvSpPr/>
          <p:nvPr/>
        </p:nvSpPr>
        <p:spPr>
          <a:xfrm>
            <a:off x="320040" y="1051560"/>
            <a:ext cx="1005840" cy="36576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Java 17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Foundation Language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3040" y="1097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Provides OOP constructs, streams, lambdas, and generics. All business logic, entities, and services are implemented in Java.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1097280" cy="91440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51560"/>
            <a:ext cx="1005840" cy="365760"/>
          </a:xfrm>
          <a:prstGeom prst="rect">
            <a:avLst/>
          </a:prstGeom>
          <a:pattFill prst="pct5">
            <a:fgClr>
              <a:srgbClr val="F0F4F8"/>
            </a:fgClr>
            <a:bgClr>
              <a:schemeClr val="bg1"/>
            </a:bgClr>
          </a:patt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Backbone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97880" y="1097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Auto-configures the server, manages beans via IoC, provides embedded Tomcat, and enables rapid development without XML config.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11680"/>
            <a:ext cx="1097280" cy="91440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 useBgFill="1">
        <p:nvSpPr>
          <p:cNvPr id="17" name="Text 15"/>
          <p:cNvSpPr/>
          <p:nvPr/>
        </p:nvSpPr>
        <p:spPr>
          <a:xfrm>
            <a:off x="320040" y="2057400"/>
            <a:ext cx="1005840" cy="36576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MVC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" y="24505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Request Routing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63040" y="2103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@Controller classes handle HTTP requests, map URL paths, validate inputs, and return </a:t>
            </a:r>
            <a:r>
              <a:rPr lang="en-US" sz="1100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Thymeleaf</a:t>
            </a: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views.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09160" y="20116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011680"/>
            <a:ext cx="1097280" cy="914400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 useBgFill="1">
        <p:nvSpPr>
          <p:cNvPr id="22" name="Text 20"/>
          <p:cNvSpPr/>
          <p:nvPr/>
        </p:nvSpPr>
        <p:spPr>
          <a:xfrm>
            <a:off x="4754880" y="2057400"/>
            <a:ext cx="1005840" cy="36576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Data JPA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24505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Access Layer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Repository interfaces extend JpaRepository, providing CRUD and custom query methods without boilerplate code.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1097280" cy="914400"/>
          </a:xfrm>
          <a:prstGeom prst="rect">
            <a:avLst/>
          </a:prstGeom>
          <a:solidFill>
            <a:srgbClr val="0E7490">
              <a:alpha val="90000"/>
            </a:srgbClr>
          </a:solidFill>
          <a:ln w="12700">
            <a:solidFill>
              <a:srgbClr val="0E7490"/>
            </a:solidFill>
            <a:prstDash val="solid"/>
          </a:ln>
        </p:spPr>
      </p:sp>
      <p:sp useBgFill="1">
        <p:nvSpPr>
          <p:cNvPr id="27" name="Text 25"/>
          <p:cNvSpPr/>
          <p:nvPr/>
        </p:nvSpPr>
        <p:spPr>
          <a:xfrm>
            <a:off x="320040" y="3063240"/>
            <a:ext cx="1005840" cy="36576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Thymeleaf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34564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 Rendering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46304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Server-side template engine that binds model attributes from controllers to HTML pages, enabling dynamic content rendering.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30175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017520"/>
            <a:ext cx="1097280" cy="91440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 useBgFill="1">
        <p:nvSpPr>
          <p:cNvPr id="32" name="Text 30"/>
          <p:cNvSpPr/>
          <p:nvPr/>
        </p:nvSpPr>
        <p:spPr>
          <a:xfrm>
            <a:off x="4754880" y="3063240"/>
            <a:ext cx="1005840" cy="36576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54880" y="34564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Persistent Storage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9788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Stores all entities: products, orders, stock movements, and user data in relational tables with foreign-key integrity.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4320" y="40233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023360"/>
            <a:ext cx="1097280" cy="91440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 useBgFill="1">
        <p:nvSpPr>
          <p:cNvPr id="37" name="Text 35"/>
          <p:cNvSpPr/>
          <p:nvPr/>
        </p:nvSpPr>
        <p:spPr>
          <a:xfrm>
            <a:off x="320040" y="4069080"/>
            <a:ext cx="1005840" cy="36576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Hibernate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20040" y="44622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ORM Engine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4630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Translates Java entity classes to database tables, manages entity states, and generates SQL queries automatically.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09160" y="40233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023360"/>
            <a:ext cx="1097280" cy="91440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 useBgFill="1">
        <p:nvSpPr>
          <p:cNvPr id="42" name="Text 40"/>
          <p:cNvSpPr/>
          <p:nvPr/>
        </p:nvSpPr>
        <p:spPr>
          <a:xfrm>
            <a:off x="4754880" y="4069080"/>
            <a:ext cx="1005840" cy="36576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@Transactional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754880" y="44622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Integrity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89788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Wraps multi-step operations in atomic database transactions. Ensures rollback on failure, preventing partial state corruption.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 Type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MVC + Layered N-Tier Architecture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Model–View–Controller (MVC) with 4-Layer N-Tier 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45920" y="1828800"/>
            <a:ext cx="585216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86537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PRESENTATION LAYER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45920" y="217627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Thymeleaf Views (HTML Templates)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80560" y="2487168"/>
            <a:ext cx="18288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651760"/>
            <a:ext cx="585216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68833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CONTROLLER LAYER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45920" y="29992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MVC @Controller 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80560" y="3310128"/>
            <a:ext cx="18288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3474720"/>
            <a:ext cx="585216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35112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 LAYER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45920" y="38221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@Service + @Business Logic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80560" y="4133088"/>
            <a:ext cx="18288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4297680"/>
            <a:ext cx="58521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433425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ACCESS LAYER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45920" y="46451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Data JPA Repositories + Hibernate + MySQL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0" y="4434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 Diagram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System Communication Flow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7160" y="1489311"/>
            <a:ext cx="155448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489311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91640" y="1818495"/>
            <a:ext cx="82296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635615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HTTP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14600" y="1260711"/>
            <a:ext cx="1920240" cy="1325880"/>
          </a:xfrm>
          <a:prstGeom prst="rect">
            <a:avLst/>
          </a:prstGeom>
          <a:solidFill>
            <a:srgbClr val="1B2A3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52151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MVC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Dispatcher Servlet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51760" y="1827639"/>
            <a:ext cx="1645920" cy="25603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82763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@Controller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51760" y="2138535"/>
            <a:ext cx="1645920" cy="256032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13853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Thymeleaf View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34840" y="1818495"/>
            <a:ext cx="6400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2060" y="1266661"/>
            <a:ext cx="1920240" cy="1438801"/>
          </a:xfrm>
          <a:prstGeom prst="rect">
            <a:avLst/>
          </a:prstGeom>
          <a:solidFill>
            <a:srgbClr val="1B2A3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52151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 Layer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@Transactional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12080" y="1791063"/>
            <a:ext cx="1645920" cy="19202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791063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InventoryService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12080" y="2010519"/>
            <a:ext cx="1645920" cy="19202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010519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OrderService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212080" y="2229975"/>
            <a:ext cx="1645920" cy="19202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229975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SimulationSvc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12080" y="2449431"/>
            <a:ext cx="1645920" cy="19202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449431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ReportService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995160" y="1818495"/>
            <a:ext cx="6400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1260711"/>
            <a:ext cx="1371600" cy="640080"/>
          </a:xfrm>
          <a:prstGeom prst="rect">
            <a:avLst/>
          </a:prstGeom>
          <a:solidFill>
            <a:srgbClr val="1B2A3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1260711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JPA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Repository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680960" y="2228844"/>
            <a:ext cx="1280160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2356860"/>
            <a:ext cx="1280160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2731764"/>
            <a:ext cx="1280160" cy="256032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4391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DB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37744" y="3529584"/>
            <a:ext cx="1298448" cy="43891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" y="352958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 Module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682496" y="3529584"/>
            <a:ext cx="1298448" cy="43891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82496" y="352958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Stock Module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127248" y="3529584"/>
            <a:ext cx="1298448" cy="438912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7248" y="352958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Analytics Module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0" y="3529584"/>
            <a:ext cx="1298448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52958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Logs Module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016752" y="3529584"/>
            <a:ext cx="1298448" cy="43891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16752" y="352958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Simulation Module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461504" y="3529584"/>
            <a:ext cx="1298448" cy="43891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61504" y="352958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Module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7744" y="4014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Application Modules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Layered Architecture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Separation of Concerns Across All System Layers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04672"/>
          </a:xfrm>
          <a:prstGeom prst="rect">
            <a:avLst/>
          </a:prstGeom>
          <a:solidFill>
            <a:srgbClr val="0891B2">
              <a:alpha val="12000"/>
            </a:srgbClr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192024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Presentation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Thymeleaf Templates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31720" y="128016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product.html, add-product.html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31920" y="1316736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7368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Bootstrap 5 responsive UI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32120" y="128016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Thymeleaf fragments for reuse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32320" y="128016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7768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attributes bound from controllers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8595360" cy="804672"/>
          </a:xfrm>
          <a:prstGeom prst="rect">
            <a:avLst/>
          </a:prstGeom>
          <a:solidFill>
            <a:srgbClr val="8B5CF6">
              <a:alpha val="12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920240"/>
            <a:ext cx="192024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Controller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432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@Controller / @RestController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331720" y="224028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Handles HTTP GET/POST requests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931920" y="227685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87368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Calls service methods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32120" y="224028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Adds model attributes to view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132320" y="224028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7768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 validation via @Valid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8595360" cy="804672"/>
          </a:xfrm>
          <a:prstGeom prst="rect">
            <a:avLst/>
          </a:prstGeom>
          <a:solidFill>
            <a:srgbClr val="10B981">
              <a:alpha val="12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880360"/>
            <a:ext cx="192024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7432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@Service + @Transactional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331720" y="32465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87168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Contains all business logic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931920" y="32004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87368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Orchestrates multi-step operations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32120" y="32004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Manages transaction boundaries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132320" y="32004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87768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Simulation &amp; risk threshold logic here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3840480"/>
            <a:ext cx="8595360" cy="804672"/>
          </a:xfrm>
          <a:prstGeom prst="rect">
            <a:avLst/>
          </a:prstGeom>
          <a:solidFill>
            <a:srgbClr val="F59E0B">
              <a:alpha val="12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40480"/>
            <a:ext cx="19202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Repository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7432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JpaRepository + Hibernate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331720" y="4160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87168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Extends JpaRepository&lt;Entity, ID&gt;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931920" y="4160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87368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 @Query with JPQL/SQL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532120" y="4160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Hibernate manages entity lifecycle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132320" y="4160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87768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 MySQL interaction via JDBC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Controller Layer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MVC Controllers — Request Handling &amp; Routing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41148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 of Controllers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8" y="1508760"/>
            <a:ext cx="1234440" cy="2926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08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@Controller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91640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Returns view name for Thymeleaf templates, adds model data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4048" y="1965960"/>
            <a:ext cx="1234440" cy="2926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65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@RequestMapping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91640" y="1984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Maps URL paths to handler methods (GET/POST)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" y="2423160"/>
            <a:ext cx="1234440" cy="2926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423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@PathVariable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91640" y="2441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Extracts dynamic path segments like /product/{id}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4048" y="2880360"/>
            <a:ext cx="1234440" cy="2926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80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@ModelAttribute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91640" y="2898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Binds form data to Java objects automatically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84048" y="3337560"/>
            <a:ext cx="1234440" cy="2926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375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@Valid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91640" y="3355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Triggers Bean Validation on form-submitted objects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84048" y="3794760"/>
            <a:ext cx="1234440" cy="2926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794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BindingResult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91640" y="3813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Captures validation errors without throwing exceptions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84048" y="4251960"/>
            <a:ext cx="1234440" cy="2926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51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RedirectAttributes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91640" y="4270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Passes flash messages across redirects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98755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987552"/>
            <a:ext cx="4206240" cy="32004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987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AuthController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54880" y="135331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 /login — show login page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 /register — user registration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 /logout — logout user 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Purpose : Handles authentication and user access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663440" y="226771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267712"/>
            <a:ext cx="4206240" cy="32004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267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InventoryController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36592" y="269069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 /dashboard — main dashboard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GET/products — view all products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 /add-product — add new product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 /increase/{id} — increase stock by 1</a:t>
            </a:r>
          </a:p>
          <a:p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 /decrease/{id} — decrease stock by 1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663440" y="354787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547872"/>
            <a:ext cx="4206240" cy="32004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547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StockController  /stock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754880" y="39136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 /stock — view all stock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 /stock/adjust — manual adjust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 /stock/alerts — low stock list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 Layer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Logic, Transaction Management &amp; Orchestration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@Service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Marks class as a Spring-managed service bean. Detected by component scan and injected via @Autowired.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960120"/>
            <a:ext cx="20116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@Transactional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1460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Wraps entire method in a database transaction. Rolls back on RuntimeException ensuring data consistency.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60120"/>
            <a:ext cx="201168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Logic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Centralized domain rules: price calculation, discount logic, stock deduction, reorder point evaluation.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20840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960120"/>
            <a:ext cx="201168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 Interfaces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122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Services implement interfaces for loose coupling, testability, and easy mocking in unit tests.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8595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146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Service Methods &amp; Logic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4048" y="2971800"/>
            <a:ext cx="2743200" cy="329184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971800"/>
            <a:ext cx="27432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processOrder(OrderDTO dto)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46120" y="298094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Validates stock → deducts quantity → creates order record → updates stock ledger → triggers alert if below threshold. Fully transactional.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84048" y="3447288"/>
            <a:ext cx="2743200" cy="329184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447288"/>
            <a:ext cx="27432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restockProduct(int id, int qty)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46120" y="345643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Adds stock to product → logs stock movement → clears any low-stock alert → recalculates total inventory value.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84048" y="3922776"/>
            <a:ext cx="2743200" cy="329184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922776"/>
            <a:ext cx="27432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evaluateRiskThreshold(Product p)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46120" y="393192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Compares currentStock against minimumThreshold. Returns CRITICAL/WARNING/OK enum. Called after every stock-deducting operation.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84048" y="4398264"/>
            <a:ext cx="2743200" cy="329184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398264"/>
            <a:ext cx="27432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generateInventoryReport()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246120" y="440740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Aggregates product values, calculates total inventory worth, identifies top movers and critical stock items for dashboard display.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 Service Module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ACID Compliance, @Transactional Behavior &amp; Rollback Strategy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737360"/>
          </a:xfrm>
          <a:prstGeom prst="rect">
            <a:avLst/>
          </a:prstGeom>
          <a:solidFill>
            <a:srgbClr val="1B2A3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097280"/>
            <a:ext cx="640080" cy="675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097280"/>
            <a:ext cx="640080" cy="675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847088"/>
            <a:ext cx="2011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Atomicity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828800" cy="501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steps in a transaction succeed or none commit. If order save fails, stock deduction is rolled back.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2011680" cy="1737360"/>
          </a:xfrm>
          <a:prstGeom prst="rect">
            <a:avLst/>
          </a:prstGeom>
          <a:solidFill>
            <a:srgbClr val="1B2A3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097280"/>
            <a:ext cx="640080" cy="675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097280"/>
            <a:ext cx="640080" cy="675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23160" y="1847088"/>
            <a:ext cx="2011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Consistency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14600" y="2148840"/>
            <a:ext cx="1828800" cy="501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moves from one valid state to another. Stock never goes negative; order is never created without stock deduction.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2011680" cy="1737360"/>
          </a:xfrm>
          <a:prstGeom prst="rect">
            <a:avLst/>
          </a:prstGeom>
          <a:solidFill>
            <a:srgbClr val="1B2A3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097280"/>
            <a:ext cx="640080" cy="675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097280"/>
            <a:ext cx="640080" cy="675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1847088"/>
            <a:ext cx="2011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Isolation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63440" y="2148840"/>
            <a:ext cx="1828800" cy="501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Concurrent transactions don't interfere. Spring uses default READ_COMMITTED isolation preventing dirty reads.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20840" y="1005840"/>
            <a:ext cx="2011680" cy="1737360"/>
          </a:xfrm>
          <a:prstGeom prst="rect">
            <a:avLst/>
          </a:prstGeom>
          <a:solidFill>
            <a:srgbClr val="1B2A3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097280"/>
            <a:ext cx="640080" cy="675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1097280"/>
            <a:ext cx="640080" cy="675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20840" y="1847088"/>
            <a:ext cx="2011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Durability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12280" y="2148840"/>
            <a:ext cx="1828800" cy="501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Committed transactions survive crashes. MySQL InnoDB ensures durability via write-ahead logging.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9154" y="318646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 Processing Transaction Flow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54874" y="3597946"/>
            <a:ext cx="12344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874" y="3597946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9194" y="359794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BEGIN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589314" y="3817402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72194" y="3597946"/>
            <a:ext cx="12344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72194" y="3597946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046514" y="359794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006634" y="3817402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9514" y="3597946"/>
            <a:ext cx="123444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89514" y="3597946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463834" y="359794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Deduct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423954" y="3817402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06834" y="3597946"/>
            <a:ext cx="123444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6834" y="3597946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881154" y="359794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841274" y="3817402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24154" y="3597946"/>
            <a:ext cx="12344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24154" y="3597946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298474" y="359794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Ledger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258594" y="3817402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41474" y="3597946"/>
            <a:ext cx="12344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41474" y="3597946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15794" y="359794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COMMIT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 ROLLBACK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Execution Flow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Step-by-Step Request → Response Journey Through the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2057400" cy="1719072"/>
          </a:xfrm>
          <a:prstGeom prst="rect">
            <a:avLst/>
          </a:prstGeom>
          <a:solidFill>
            <a:srgbClr val="1B2A3E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09728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6032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submits 'Create Order' form in browser. HTTP POST /orders/create with form data.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04872" y="987552"/>
            <a:ext cx="2057400" cy="1719072"/>
          </a:xfrm>
          <a:prstGeom prst="rect">
            <a:avLst/>
          </a:prstGeom>
          <a:solidFill>
            <a:srgbClr val="1B2A3E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8104" y="109728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8104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78024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DispatcherServlet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96312" y="21031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Spring's front controller intercepts the request, identifies matching @RequestMapping in OrderController.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26864" y="987552"/>
            <a:ext cx="2057400" cy="1719072"/>
          </a:xfrm>
          <a:prstGeom prst="rect">
            <a:avLst/>
          </a:prstGeom>
          <a:solidFill>
            <a:srgbClr val="1B2A3E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0096" y="10972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00016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Controller Processes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18304" y="21031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OrderController validates @ModelAttribute OrderDTO via @Valid. On error → returns form view with BindingResult.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48856" y="987552"/>
            <a:ext cx="2057400" cy="1719072"/>
          </a:xfrm>
          <a:prstGeom prst="rect">
            <a:avLst/>
          </a:prstGeom>
          <a:solidFill>
            <a:srgbClr val="1B2A3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2088" y="10972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22008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 Invoked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40296" y="21031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Controller calls orderService.processOrder(dto). Spring opens @Transactional context here.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82880" y="2907792"/>
            <a:ext cx="2057400" cy="1719072"/>
          </a:xfrm>
          <a:prstGeom prst="rect">
            <a:avLst/>
          </a:prstGeom>
          <a:solidFill>
            <a:srgbClr val="1B2A3E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301752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56032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Logic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74320" y="402336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 checks stock availability, deducts quantity, creates Order entity, updates StockMovement, calls threshold evaluator.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404872" y="2907792"/>
            <a:ext cx="2057400" cy="1719072"/>
          </a:xfrm>
          <a:prstGeom prst="rect">
            <a:avLst/>
          </a:prstGeom>
          <a:solidFill>
            <a:srgbClr val="1B2A3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18104" y="30175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18104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478024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Repository Saves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496312" y="402336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JPA repositories persist Order + StockMovement entities. Hibernate generates INSERT/UPDATE SQL on MySQL.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26864" y="2907792"/>
            <a:ext cx="2057400" cy="1719072"/>
          </a:xfrm>
          <a:prstGeom prst="rect">
            <a:avLst/>
          </a:prstGeom>
          <a:solidFill>
            <a:srgbClr val="1B2A3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40096" y="30175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0096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00016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 Committed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18304" y="402336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DB writes committed atomically. If any step threw RuntimeException, full rollback would have occurred.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848856" y="2907792"/>
            <a:ext cx="2057400" cy="1719072"/>
          </a:xfrm>
          <a:prstGeom prst="rect">
            <a:avLst/>
          </a:prstGeom>
          <a:solidFill>
            <a:srgbClr val="1B2A3E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62088" y="301752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6208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922008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Response Rendered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940296" y="402336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Controller adds success flash message via RedirectAttributes, redirects to /orders — Thymeleaf renders updated order list.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This Approach?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Decisions &amp; Justification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960120"/>
            <a:ext cx="2240280" cy="74980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Spring Boot?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51760" y="105156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 eliminates XML configuration boilerplate, auto-configures embedded Tomcat, and provides production-ready features (actuator, security) out of the box — significantly reducing development time.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01368"/>
            <a:ext cx="54864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" y="1801368"/>
            <a:ext cx="2240280" cy="74980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84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Thymeleaf over React/Angular?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51760" y="189280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an enterprise MVC application, Thymeleaf integrates naturally with Spring model attributes. No separate frontend build pipeline needed. Server-side rendering ensures SEO and immediate page consistency.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64261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42616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" y="2642616"/>
            <a:ext cx="2240280" cy="749808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254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Layered Architecture?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51760" y="273405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Strict separation of Controller/Service/Repository layers enforces Single Responsibility Principle. Each layer can be unit tested independently, and business logic changes don't ripple to the presentation layer.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348386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83864"/>
            <a:ext cx="54864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" y="3483864"/>
            <a:ext cx="2240280" cy="74980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667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@Transactional for All Operations?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651760" y="357530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Inventory operations inherently involve multiple DB writes (stock + order + ledger). Without atomicity, a server crash mid-operation would leave data in an inconsistent state — unacceptable in enterprise systems.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432511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325112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" y="4325112"/>
            <a:ext cx="2240280" cy="749808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507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a Simulation Module?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651760" y="441655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systems are tested under load before production. The simulation module validates system behavior under concurrent order processing and ensures threshold logic fires correctly at scale.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Achievements &amp; Outcomes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Was Delivered &amp; What Was Learned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417320"/>
          </a:xfrm>
          <a:prstGeom prst="rect">
            <a:avLst/>
          </a:prstGeom>
          <a:solidFill>
            <a:srgbClr val="1B2A3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7+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Modules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2011680" cy="1417320"/>
          </a:xfrm>
          <a:prstGeom prst="rect">
            <a:avLst/>
          </a:prstGeom>
          <a:solidFill>
            <a:srgbClr val="1B2A3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100%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2316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ACID-Compliant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2011680" cy="1417320"/>
          </a:xfrm>
          <a:prstGeom prst="rect">
            <a:avLst/>
          </a:prstGeom>
          <a:solidFill>
            <a:srgbClr val="1B2A3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Roles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(RBAC)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20840" y="1005840"/>
            <a:ext cx="2011680" cy="1417320"/>
          </a:xfrm>
          <a:prstGeom prst="rect">
            <a:avLst/>
          </a:prstGeom>
          <a:solidFill>
            <a:srgbClr val="1B2A3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731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2084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2788920" cy="2377440"/>
          </a:xfrm>
          <a:prstGeom prst="rect">
            <a:avLst/>
          </a:prstGeom>
          <a:solidFill>
            <a:srgbClr val="1B2A3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06040"/>
            <a:ext cx="27889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060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Technical Skills Gained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" y="318211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044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 auto-configuration mastery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8912" y="358444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5204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JPA entity relationships (OneToMany, ManyToOne)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8912" y="414223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9959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@Transactional rollback handling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38912" y="461420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4714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Thymeleaf fragment templating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0" y="2606040"/>
            <a:ext cx="2788920" cy="2377440"/>
          </a:xfrm>
          <a:prstGeom prst="rect">
            <a:avLst/>
          </a:prstGeom>
          <a:solidFill>
            <a:srgbClr val="1B2A3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606040"/>
            <a:ext cx="27889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6060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Features Delivered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364992" y="31729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044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CRUD for all inventory entities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360026" y="36667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35204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stock alert dashboard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358755" y="413236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47872" y="39959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Simulation engine with logging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369352" y="460785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44714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Role-based access control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26480" y="2606040"/>
            <a:ext cx="2788920" cy="2377440"/>
          </a:xfrm>
          <a:prstGeom prst="rect">
            <a:avLst/>
          </a:prstGeom>
          <a:solidFill>
            <a:srgbClr val="1B2A3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606040"/>
            <a:ext cx="27889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6060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Engineering Principles Applied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291072" y="318211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044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SOLID principles in service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91072" y="36576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35204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DRY via utility classes &amp; fragments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291072" y="414174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9959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Separation of Concerns in layers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291072" y="461420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44714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Fail-fast validation at controller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Applications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 Use Cases for This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601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Retail &amp; E-Commerce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399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🛍️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 SKUs across multiple outlets, manage reorder points, sync online and in-store stock in real time to prevent overselling.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82112" y="96012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960120"/>
            <a:ext cx="274320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9601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Manufacturing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27832" y="1399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🏭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73552" y="20116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 raw material inventory, track work-in-progress stock, manage finished goods, and coordinate with suppliers for JIT procurement.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9904" y="96012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960120"/>
            <a:ext cx="27432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9601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Healthcare &amp; Pharmacy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35624" y="1399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⚕️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81344" y="20116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 medical supply expiry dates, manage critical stock thresholds for life-saving medicines, automate procurement of low-stock items.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7432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2608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Warehousing &amp; Logistics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📦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Multi-location stock tracking, shipment management, inbound/outbound logging, and automated space optimization alerts.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82112" y="292608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2926080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292608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Restaurant &amp; F&amp;B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27832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🍽️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73552" y="39776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Manage perishable ingredient inventory, track daily consumption patterns, set critical thresholds for essential ingredients.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89904" y="292608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292608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92608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Asset Management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35624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💻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81344" y="39776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 hardware/software assets, manage procurement cycles for devices, and maintain audit trails for compliance reporting.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Summary, Learnings &amp; Future Roadmap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490472"/>
            <a:ext cx="8595360" cy="1417320"/>
          </a:xfrm>
          <a:prstGeom prst="rect">
            <a:avLst/>
          </a:prstGeom>
          <a:solidFill>
            <a:srgbClr val="1B2A3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46063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Summary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89426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Enterprise Inventory Management System successfully demonstrates the development of a production-grade, full-stack Java application using Spring Boot and Thymeleaf. The system implements industry-standard architectural patterns (MVC, Layered Architecture), enforces ACID-compliant transactional integrity, and delivers a comprehensive suite of modules covering the full inventory lifecycle — from product management and supplier coordination to simulation testing and risk threshold monitoring.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3700777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has successfully met all objectives while laying a strong foundation for real-world enterprise inventory system deployment.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342143"/>
            <a:ext cx="4023360" cy="4023360"/>
          </a:xfrm>
          <a:prstGeom prst="ellipse">
            <a:avLst/>
          </a:prstGeom>
          <a:solidFill>
            <a:srgbClr val="1B2A3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You!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Enterprise Inventory Management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288036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&amp; Discussion Welcome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2179</Words>
  <Application>Microsoft Office PowerPoint</Application>
  <PresentationFormat>On-screen Show (16:9)</PresentationFormat>
  <Paragraphs>400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Inventory Management System</dc:title>
  <dc:subject>Inventory Presentation</dc:subject>
  <dc:creator>Vikram Kumar</dc:creator>
  <cp:lastModifiedBy>VIKRAM KUMAR</cp:lastModifiedBy>
  <cp:revision>9</cp:revision>
  <dcterms:created xsi:type="dcterms:W3CDTF">2026-03-11T07:49:21Z</dcterms:created>
  <dcterms:modified xsi:type="dcterms:W3CDTF">2026-03-18T13:53:13Z</dcterms:modified>
</cp:coreProperties>
</file>